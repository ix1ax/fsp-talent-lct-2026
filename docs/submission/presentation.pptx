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3100000000" r:id="rId1"/>
    <p:sldMasterId id="3100000009" r:id="rId2"/>
  </p:sldMasterIdLst>
  <p:notesMasterIdLst>
    <p:notesMasterId r:id="rId20"/>
  </p:notesMasterIdLst>
  <p:handoutMasterIdLst>
    <p:handoutMasterId r:id="rId21"/>
  </p:handoutMasterIdLst>
  <p:sldIdLst>
    <p:sldId id="1000" r:id="rId3"/>
    <p:sldId id="1001" r:id="rId4"/>
    <p:sldId id="1002" r:id="rId5"/>
    <p:sldId id="1003" r:id="rId6"/>
    <p:sldId id="1004" r:id="rId7"/>
    <p:sldId id="1005" r:id="rId8"/>
    <p:sldId id="1011" r:id="rId9"/>
    <p:sldId id="1012" r:id="rId10"/>
    <p:sldId id="1013" r:id="rId11"/>
    <p:sldId id="1014" r:id="rId12"/>
    <p:sldId id="1015" r:id="rId13"/>
    <p:sldId id="1016" r:id="rId14"/>
    <p:sldId id="1017" r:id="rId15"/>
    <p:sldId id="1018" r:id="rId16"/>
    <p:sldId id="1019" r:id="rId17"/>
    <p:sldId id="1020" r:id="rId18"/>
    <p:sldId id="1021" r:id="rId19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1000"/>
            <p14:sldId id="1001"/>
            <p14:sldId id="1002"/>
            <p14:sldId id="1003"/>
            <p14:sldId id="1004"/>
            <p14:sldId id="1005"/>
          </p14:sldIdLst>
        </p14:section>
        <p14:section name="Обязательные слайды" id="{248E5CD8-1028-4246-90C7-3263F7F286D3}">
          <p14:sldIdLst>
            <p14:sldId id="1011"/>
            <p14:sldId id="1012"/>
            <p14:sldId id="1013"/>
            <p14:sldId id="1014"/>
            <p14:sldId id="1015"/>
            <p14:sldId id="1016"/>
            <p14:sldId id="1017"/>
            <p14:sldId id="1018"/>
            <p14:sldId id="1019"/>
            <p14:sldId id="1020"/>
            <p14:sldId id="1021"/>
          </p14:sldIdLst>
        </p14:section>
        <p14:section name="Шаблоны слайдов" id="{24401F80-F81B-49C3-8D55-70A14F0BF8FF}">
          <p14:sldIdLst/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95890"/>
  </p:normalViewPr>
  <p:slideViewPr>
    <p:cSldViewPr snapToGrid="0" showGuides="1">
      <p:cViewPr varScale="1">
        <p:scale>
          <a:sx n="119" d="100"/>
          <a:sy n="119" d="100"/>
        </p:scale>
        <p:origin x="208" y="24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Вес критерия</c:v>
          </c:tx>
          <c:spPr>
            <a:solidFill>
              <a:srgbClr val="FF005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 b="1">
                    <a:solidFill>
                      <a:srgbClr val="310F53"/>
                    </a:solidFill>
                    <a:latin typeface="Montserrat"/>
                    <a:ea typeface="Montserrat"/>
                    <a:cs typeface="Montserra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Специализация</c:v>
                </c:pt>
                <c:pt idx="1">
                  <c:v>Грейд</c:v>
                </c:pt>
                <c:pt idx="2">
                  <c:v>Стек</c:v>
                </c:pt>
                <c:pt idx="3">
                  <c:v>Формат</c:v>
                </c:pt>
                <c:pt idx="4">
                  <c:v>Бюджет</c:v>
                </c:pt>
                <c:pt idx="5">
                  <c:v>Город</c:v>
                </c:pt>
                <c:pt idx="6">
                  <c:v>Часовой пояс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30</c:v>
                </c:pt>
                <c:pt idx="1">
                  <c:v>20</c:v>
                </c:pt>
                <c:pt idx="2">
                  <c:v>30</c:v>
                </c:pt>
                <c:pt idx="3">
                  <c:v>10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F6-2F43-86F4-B313D7234D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код и документация проекта /Users/denis/projects/fsp-talent-lct-2026. Состав команды и роли предоставлены пользователем. Контакты, фотографии и история команды требуют заполнения. Дизайн и структура соответствуют слайду 7 исходного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код и документация проекта /Users/denis/projects/fsp-talent-lct-2026. Состав команды и роли предоставлены пользователем. Контакты, фотографии и история команды требуют заполнения. Дизайн и структура соответствуют слайду 8 исходного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код и документация проекта /Users/denis/projects/fsp-talent-lct-2026. Состав команды и роли предоставлены пользователем. Контакты, фотографии и история команды требуют заполнения. Дизайн и структура соответствуют слайду 9 исходного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код и документация проекта /Users/denis/projects/fsp-talent-lct-2026. Состав команды и роли предоставлены пользователем. Контакты, фотографии и история команды требуют заполнения. Дизайн и структура соответствуют слайду 10 исходного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код и документация проекта /Users/denis/projects/fsp-talent-lct-2026. Состав команды и роли предоставлены пользователем. Контакты, фотографии и история команды требуют заполнения. Дизайн и структура соответствуют слайду 11 исходного шаблона.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/Users/denis/projects/fsp-talent-lct-2026/apps/web/src/screens/home/model/landing.ts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/Users/denis/projects/fsp-talent-lct-2026/apps/web/docs/architecture.md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/Users/denis/projects/fsp-talent-lct-2026/docs/backend-hiring-and-admin.md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/Users/denis/projects/fsp-talent-lct-2026/apps/web/package.json</a:t>
            </a:r>
          </a:p>
          <a:p>
            <a:r>
              <a:t>/Users/denis/projects/fsp-talent-lct-2026/apps/web/docs/architecture.md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/Users/denis/projects/fsp-talent-lct-2026/apps/web/src/entities/employer-bank/model/types.ts</a:t>
            </a:r>
          </a:p>
          <a:p>
            <a:r>
              <a:t>/Users/denis/projects/fsp-talent-lct-2026/docs/backend-hiring-and-admin.md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/Users/denis/projects/fsp-talent-lct-2026/apps/api/go.mod</a:t>
            </a:r>
          </a:p>
          <a:p>
            <a:r>
              <a:t>/Users/denis/projects/fsp-talent-lct-2026/README.md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/Users/denis/projects/fsp-talent-lct-2026/apps/api/internal/candidatebank/repository/matching.go</a:t>
            </a:r>
          </a:p>
          <a:p>
            <a:r>
              <a:t>/Users/denis/projects/fsp-talent-lct-2026/apps/api/internal/candidatebank/repository/recommendations.go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/Users/denis/projects/fsp-talent-lct-2026/apps/web/src/entities/assessment/model/types.ts</a:t>
            </a:r>
          </a:p>
          <a:p>
            <a:r>
              <a:t>/Users/denis/projects/fsp-talent-lct-2026/apps/web/docs/architecture.md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/Users/denis/projects/fsp-talent-lct-2026/docs/backend-hiring-and-admin.md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/Users/denis/projects/fsp-talent-lct-2026/docs/admin-operations.md</a:t>
            </a:r>
          </a:p>
          <a:p>
            <a:r>
              <a:t>/Users/denis/projects/fsp-talent-lct-2026/apps/web/docs/admin-operations.md</a:t>
            </a:r>
          </a:p>
          <a:p>
            <a:r>
              <a:t>Скриншот работающего локального интерфейса. Синтетические демонстрационные данные, не реальные пользователи или результаты эксплуатации.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/Users/denis/projects/fsp-talent-lct-2026/README.md</a:t>
            </a:r>
          </a:p>
          <a:p>
            <a:r>
              <a:t>/Users/denis/projects/fsp-talent-lct-2026/.github/workflows/ci.yml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Источники: /Users/denis/projects/fsp-talent-lct-2026/docs/fsp-integration.md</a:t>
            </a:r>
          </a:p>
          <a:p>
            <a:r>
              <a:t>/Users/denis/projects/fsp-talent-lct-2026/docs/matching-evaluation.md</a:t>
            </a:r>
          </a:p>
          <a:p>
            <a:r>
              <a:t>/Users/denis/projects/fsp-talent-lct-2026/README.md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sz="1600" b="0"/>
              <a:t>Номер и название задачи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t>11.10.2026</a:t>
            </a:fld>
            <a:endParaRPr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t>11.10.2026</a:t>
            </a:fld>
            <a:endParaRPr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t>11.10.2026</a:t>
            </a:fld>
            <a:endParaRPr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t>11.10.2026</a:t>
            </a:fld>
            <a:endParaRPr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t>11.10.2026</a:t>
            </a:fld>
            <a:endParaRPr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AB2196-A440-4E25-B9FF-D0ADB01B1A15}" type="datetime1">
              <a:t>11.10.2026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ED5B94B-CD0E-4FA3-8ABF-96FE21810CDD}"/>
              </a:ext>
            </a:extLst>
          </p:cNvPr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E44F2F64-48EA-49F2-9010-D49A3AA87D47}"/>
              </a:ext>
            </a:extLst>
          </p:cNvPr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22A07C13-20B4-4157-BA40-D7D356E2B3D4}"/>
              </a:ext>
            </a:extLst>
          </p:cNvPr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E8DA1A75-CC30-42AE-AF6B-E9BC28AF2E22}"/>
              </a:ext>
            </a:extLst>
          </p:cNvPr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fld id="{9D490EE5-ED7D-46E8-8345-A78A0CB0F4A4}" type="datetime1">
              <a:t>11.10.2026</a:t>
            </a:fld>
            <a:endParaRPr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t>11.10.2026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FAD0E4-9B8A-429D-8EA1-B13D93F45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3D0EAB8-99B9-4D12-ACD8-7465716CE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38D0340-B867-4B86-9D80-39F9A086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C5B1D9-0E5A-48F8-9F86-54FBC3FC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27BD65A-EFA6-4BB5-B3CB-CC34746B6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805875F-CBC4-449E-8557-68B0F50A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63C98B6-71D9-41C0-A6BD-5C9D7AA2A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8AB29A3-531C-45FE-8823-F8F388D254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7899883-BAD9-47B5-9FB1-D06E9221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5AD4F99-F752-4812-A883-A17472418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t>11.10.2026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3100000001" r:id="rId12"/>
    <p:sldLayoutId id="3100000002" r:id="rId13"/>
    <p:sldLayoutId id="3100000003" r:id="rId14"/>
    <p:sldLayoutId id="3100000004" r:id="rId15"/>
    <p:sldLayoutId id="3100000005" r:id="rId16"/>
    <p:sldLayoutId id="2147483665" r:id="rId17"/>
    <p:sldLayoutId id="3100000006" r:id="rId18"/>
    <p:sldLayoutId id="3100000007" r:id="rId19"/>
    <p:sldLayoutId id="310000000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3100000010" r:id="rId1"/>
    <p:sldLayoutId id="3100000011" r:id="rId2"/>
    <p:sldLayoutId id="3100000012" r:id="rId3"/>
    <p:sldLayoutId id="3100000013" r:id="rId4"/>
    <p:sldLayoutId id="3100000014" r:id="rId5"/>
    <p:sldLayoutId id="310000001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>
            <a:defPPr algn="l">
              <a:defRPr sz="412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marL="268288" indent="0" algn="l">
              <a:buNone/>
              <a:defRPr sz="412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UNSALTED</a:t>
            </a:r>
            <a:endParaRPr sz="4800"/>
          </a:p>
          <a:p>
            <a:pPr marL="268288" indent="0" algn="l">
              <a:buNone/>
              <a:defRPr sz="412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4125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ФСП Скаут</a:t>
            </a:r>
            <a:endParaRPr sz="480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>
            <a:defPPr algn="l">
              <a:defRPr sz="18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marL="271463" indent="-3175" algn="l">
              <a:buNone/>
              <a:defRPr sz="18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Цифровая платформа поиска ИТ-специалистов</a:t>
            </a:r>
          </a:p>
          <a:p>
            <a:pPr marL="271463" indent="-3175" algn="l">
              <a:buNone/>
              <a:defRPr sz="18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с профилем навыков и достижений ФСП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noGrp="1"/>
          </p:cNvSpPr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94A528-D13A-4BBA-AD1C-3F8C31953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9397F0-ADFC-41EF-ADCE-6ABE174D4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1950" y="2095500"/>
            <a:ext cx="158115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-1" y="0"/>
            <a:ext cx="6456363" cy="2971784"/>
          </a:xfrm>
          <a:solidFill>
            <a:schemeClr val="tx1"/>
          </a:solidFill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95272"/>
          </a:bodyPr>
          <a:lstStyle>
            <a:defPPr algn="l">
              <a:defRPr sz="15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Font typeface="Wingdings"/>
              <a:buNone/>
              <a:defRPr sz="15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Подбор объясняет совпадения и пробелы. Самооценка отделена от результатов тестов. Достижения ФСП дополняют профиль через тестовый реестр.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Капитан: Илья Самсонов, fullstack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Участников: 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Команда: Unsalted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Backend: Джамал Авдоян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Frontend: Екатерина Булгакова, Денис Руденко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Город и регион: Тверь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>
            <a:def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algn="l">
              <a:def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ФСП Скаут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74C188E-1A14-425C-AA69-1573CAD392A6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4C1F7F4B-442E-470F-87D3-21625E1966D4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01F08CD-9754-4174-99F4-9B21BF7F10F2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fontScale="96917"/>
          </a:bodyPr>
          <a:lstStyle>
            <a:defPPr algn="l">
              <a:defRPr sz="15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Font typeface="Wingdings"/>
              <a:buNone/>
              <a:defRPr sz="15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Профиль кандидата, подтверждение навыков тестами и подбор под потребность компании. Приглашения открывают контакты с согласия кандидата.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noGrp="1"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DC75C54-EE10-4E8C-A4D7-46FAC8297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025941" y="361942"/>
            <a:ext cx="2247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noGrp="1"/>
          </p:cNvSpPr>
          <p:nvPr/>
        </p:nvSpPr>
        <p:spPr>
          <a:xfrm>
            <a:off x="380405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noGrp="1"/>
          </p:cNvSpPr>
          <p:nvPr/>
        </p:nvSpPr>
        <p:spPr>
          <a:xfrm>
            <a:off x="3976337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spcBef>
                <a:spcPts val="60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Backend</a:t>
            </a:r>
          </a:p>
          <a:p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@</a:t>
            </a:r>
            <a:r>
              <a:rPr lang="en-US" sz="1200" b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aroongate</a:t>
            </a:r>
            <a:endParaRPr lang="en-US"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+79206867173</a:t>
            </a:r>
          </a:p>
          <a:p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ГБПОУ "Тверской колледж им. А.Н. Коняева"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noGrp="1"/>
          </p:cNvSpPr>
          <p:nvPr/>
        </p:nvSpPr>
        <p:spPr>
          <a:xfrm>
            <a:off x="397633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Джамал</a:t>
            </a:r>
          </a:p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Авдоян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noGrp="1"/>
          </p:cNvSpPr>
          <p:nvPr/>
        </p:nvSpPr>
        <p:spPr>
          <a:xfrm>
            <a:off x="610937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noGrp="1"/>
          </p:cNvSpPr>
          <p:nvPr/>
        </p:nvSpPr>
        <p:spPr>
          <a:xfrm>
            <a:off x="628165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spcBef>
                <a:spcPts val="60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>
            <a:pPr algn="l"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@</a:t>
            </a:r>
            <a:r>
              <a:rPr lang="en-US" sz="1200" b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katerinbulgakova</a:t>
            </a:r>
            <a:endParaRPr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algn="l"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+79806256928</a:t>
            </a:r>
            <a:endParaRPr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algn="l"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МИСИС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noGrp="1"/>
          </p:cNvSpPr>
          <p:nvPr/>
        </p:nvSpPr>
        <p:spPr>
          <a:xfrm>
            <a:off x="628165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Екатерина</a:t>
            </a:r>
          </a:p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Булгакова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noGrp="1"/>
          </p:cNvSpPr>
          <p:nvPr/>
        </p:nvSpPr>
        <p:spPr>
          <a:xfrm>
            <a:off x="8414690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noGrp="1"/>
          </p:cNvSpPr>
          <p:nvPr/>
        </p:nvSpPr>
        <p:spPr>
          <a:xfrm>
            <a:off x="8586974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spcBef>
                <a:spcPts val="60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Frontend</a:t>
            </a:r>
          </a:p>
          <a:p>
            <a:pPr algn="l"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@toddh0ward </a:t>
            </a:r>
          </a:p>
          <a:p>
            <a:pPr algn="l"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+79157235728</a:t>
            </a:r>
            <a:endParaRPr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algn="l"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dirty="0" err="1">
                <a:solidFill>
                  <a:srgbClr val="000000"/>
                </a:solidFill>
                <a:latin typeface="Montserrat"/>
              </a:rPr>
              <a:t>ТвГТУ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noGrp="1"/>
          </p:cNvSpPr>
          <p:nvPr/>
        </p:nvSpPr>
        <p:spPr>
          <a:xfrm>
            <a:off x="8586973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Денис</a:t>
            </a:r>
          </a:p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Руденко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noGrp="1"/>
          </p:cNvSpPr>
          <p:nvPr/>
        </p:nvSpPr>
        <p:spPr>
          <a:xfrm>
            <a:off x="149873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/>
          <a:srcRect t="4925" b="4925"/>
          <a:stretch>
            <a:fillRect/>
          </a:stretch>
        </p:blipFill>
        <p:spPr>
          <a:xfrm>
            <a:off x="1734056" y="1816054"/>
            <a:ext cx="1722566" cy="155290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5"/>
          <a:srcRect l="4166" r="4166"/>
          <a:stretch>
            <a:fillRect/>
          </a:stretch>
        </p:blipFill>
        <p:spPr>
          <a:xfrm>
            <a:off x="4039126" y="1826554"/>
            <a:ext cx="1722566" cy="154240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6"/>
          <a:srcRect t="4727" b="4727"/>
          <a:stretch>
            <a:fillRect/>
          </a:stretch>
        </p:blipFill>
        <p:spPr>
          <a:xfrm>
            <a:off x="6344443" y="1809238"/>
            <a:ext cx="1722567" cy="155971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7"/>
          <a:srcRect t="5016" b="5016"/>
          <a:stretch>
            <a:fillRect/>
          </a:stretch>
        </p:blipFill>
        <p:spPr>
          <a:xfrm>
            <a:off x="8672867" y="1809238"/>
            <a:ext cx="1722567" cy="155971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>
            <a:defPPr algn="l">
              <a:defRPr sz="199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algn="l">
              <a:defRPr sz="199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995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КОМАНДА UNSALTED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1671019" y="4250028"/>
            <a:ext cx="1894354" cy="1624612"/>
          </a:xfrm>
        </p:spPr>
        <p:txBody>
          <a:bodyPr>
            <a:normAutofit/>
          </a:bodyPr>
          <a:lstStyle>
            <a:defPPr algn="l"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algn="l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200" b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Капитан</a:t>
            </a:r>
            <a:endParaRPr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200" b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Fullstack</a:t>
            </a:r>
            <a:endParaRPr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en-US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@ix1ax</a:t>
            </a:r>
            <a:endParaRPr lang="ru-RU" sz="120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+79201608331</a:t>
            </a:r>
          </a:p>
          <a:p>
            <a:pPr>
              <a:spcBef>
                <a:spcPts val="0"/>
              </a:spcBef>
              <a:buFont typeface="Arial"/>
              <a:buChar char="•"/>
              <a:defRPr sz="120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2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ГБПОУ "Тверской колледж им. А.Н. Коняева"</a:t>
            </a:r>
            <a:endParaRPr sz="1200" b="0" dirty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noGrp="1"/>
          </p:cNvSpPr>
          <p:nvPr/>
        </p:nvSpPr>
        <p:spPr>
          <a:xfrm>
            <a:off x="167101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Илья</a:t>
            </a:r>
          </a:p>
          <a:p>
            <a:pPr marL="0" indent="0" algn="l">
              <a:buNone/>
              <a:def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6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Самсонов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>
            <a:defPPr algn="l">
              <a:defRPr sz="199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algn="l">
              <a:defRPr sz="1995" b="1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995" b="1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КОМАНДА И ЗАДАЧА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7" y="1602273"/>
            <a:ext cx="10668000" cy="934263"/>
          </a:xfrm>
        </p:spPr>
        <p:txBody>
          <a:bodyPr>
            <a:normAutofit/>
          </a:bodyPr>
          <a:lstStyle>
            <a:defPPr algn="l"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marL="0" indent="0" algn="l">
              <a:lnSpc>
                <a:spcPct val="100000"/>
              </a:lnSpc>
              <a:buNone/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Unsalted объединила четырёх разработчиков вокруг идеи: сделать навыки кандидата понятными работодателю. Илья координирует работу и связывает фронтенд с бэкендом, Джамал отвечает за сервер, Екатерина и Денис создают интерфейс. Так команда развивает ФСП Скаут.</a:t>
            </a:r>
          </a:p>
          <a:p>
            <a:pPr marL="0" indent="0" algn="l">
              <a:lnSpc>
                <a:spcPct val="100000"/>
              </a:lnSpc>
              <a:buNone/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endParaRPr sz="1350" b="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defPPr algn="l"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Инженерные задачи: общий API-контракт, восстановление сессии и защита контактов. Решения: OpenAPI, OIDC/Keycloak и проверки доступа на сервере.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noGrp="1"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defPPr algn="l"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00000"/>
              </a:lnSpc>
              <a:buNone/>
              <a:def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Задача проекта: помочь компаниям находить ИТ-специалистов по подтверждённым навыкам, а участникам ФСП представить свои достижения.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9C0DD31E-A4A0-41DF-A18F-FC6CA1DBA752}"/>
              </a:ext>
            </a:extLst>
          </p:cNvPr>
          <p:cNvSpPr>
            <a:spLocks noGrp="1"/>
          </p:cNvSpPr>
          <p:nvPr/>
        </p:nv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B900DDB-364E-4BA8-B142-246C77B14B35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8558AC7-3C0F-4F4E-B86E-BC2617547102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>
            <a:defPPr algn="l"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algn="l"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Фронтенд: Next.js 15, React 19 и TypeScript. Кабинеты кандидата, работодателя и администратора.</a:t>
            </a:r>
          </a:p>
          <a:p>
            <a:pPr algn="l"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Бэкенд: Go 1.26, Gin и REST API. PostgreSQL хранит данные, Redis используется как кеш, SeaweedFS хранит файлы.</a:t>
            </a:r>
          </a:p>
          <a:p>
            <a:pPr algn="l"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Тестирование подтверждает категорию и навыки. Подбор раскрывает вклад каждого критерия.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>
            <a:defPPr algn="l"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 algn="l"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Аудитория: ИТ-компании и участники Федерации спортивного программирования.</a:t>
            </a:r>
          </a:p>
          <a:p>
            <a:pPr marL="0" indent="0">
              <a:buNone/>
            </a:pPr>
            <a:endParaRPr sz="1400">
              <a:solidFill>
                <a:schemeClr val="tx1"/>
              </a:solidFill>
            </a:endParaRPr>
          </a:p>
          <a:p>
            <a:pPr marL="0" indent="0" algn="l">
              <a:buNone/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Кандидат собирает профессиональный профиль. Работодатель получает подборку с объяснением соответствия.</a:t>
            </a:r>
            <a:endParaRPr sz="1400">
              <a:solidFill>
                <a:schemeClr val="tx1"/>
              </a:solidFill>
            </a:endParaRPr>
          </a:p>
          <a:p>
            <a:pPr marL="0" indent="0">
              <a:buNone/>
            </a:pPr>
            <a:endParaRPr sz="1400">
              <a:solidFill>
                <a:schemeClr val="tx1"/>
              </a:solidFill>
            </a:endParaRPr>
          </a:p>
          <a:p>
            <a:pPr marL="0" indent="0" algn="l">
              <a:buNone/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Развитие: пилот с компаниями, подключение реального реестра ФСП и проверка качества подбора на реальных данных.</a:t>
            </a:r>
            <a:endParaRPr sz="1400">
              <a:solidFill>
                <a:schemeClr val="tx1"/>
              </a:solidFill>
            </a:endParaRPr>
          </a:p>
          <a:p>
            <a:pPr marL="0" indent="0">
              <a:buNone/>
            </a:pPr>
            <a:endParaRPr sz="1400">
              <a:solidFill>
                <a:schemeClr val="tx1"/>
              </a:solidFill>
            </a:endParaRPr>
          </a:p>
          <a:p>
            <a:pPr marL="0" indent="0" algn="l">
              <a:buNone/>
              <a:def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Модель платного доступа работодателей требует проверки в пилоте.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E6FE520-22CE-40F0-9270-E39F354628F8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ФСП Скаут в действии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D14847-1430-4377-A376-CBEC3AD9BA2D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B3EC57-3377-4497-A87E-53E7449F7D40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3048000" cy="2143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Профиль.</a:t>
            </a:r>
          </a:p>
          <a:p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Навыки.</a:t>
            </a:r>
          </a:p>
          <a:p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723FBB-4F71-4B30-BBE8-BEC662C548C2}"/>
              </a:ext>
            </a:extLst>
          </p:cNvPr>
          <p:cNvSpPr>
            <a:spLocks noGrp="1"/>
          </p:cNvSpPr>
          <p:nvPr/>
        </p:nvSpPr>
        <p:spPr>
          <a:xfrm>
            <a:off x="495300" y="4191000"/>
            <a:ext cx="30480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Платформа связывает профессиональный профиль кандидата с потребностью работодателя.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546AAD-9F32-499D-8773-94DE84C37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67150" y="1104900"/>
            <a:ext cx="78867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B3DA29-AE3C-4B7F-A05E-BBF9546924DF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Кандидат: профиль, которым можно управлять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5FE11D-4BCC-49BE-B549-F05CB73E54D1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25896E0-27B7-43B9-9FBA-2C3476FBDB04}"/>
              </a:ext>
            </a:extLst>
          </p:cNvPr>
          <p:cNvSpPr>
            <a:spLocks noGrp="1"/>
          </p:cNvSpPr>
          <p:nvPr/>
        </p:nvSpPr>
        <p:spPr>
          <a:xfrm>
            <a:off x="495300" y="150495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E23B7FB-FC91-4465-A99A-C99120ABD6B7}"/>
              </a:ext>
            </a:extLst>
          </p:cNvPr>
          <p:cNvSpPr>
            <a:spLocks noGrp="1"/>
          </p:cNvSpPr>
          <p:nvPr/>
        </p:nvSpPr>
        <p:spPr>
          <a:xfrm>
            <a:off x="495300" y="198120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Профиль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553EFBF-9AB7-4C8C-A4F2-A3E6D37ECA4A}"/>
              </a:ext>
            </a:extLst>
          </p:cNvPr>
          <p:cNvSpPr>
            <a:spLocks noGrp="1"/>
          </p:cNvSpPr>
          <p:nvPr/>
        </p:nvSpPr>
        <p:spPr>
          <a:xfrm>
            <a:off x="495300" y="2514600"/>
            <a:ext cx="2667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Опыт и условия работы, импорт резюме в PDF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504600-5B7F-4F5D-BD20-A7574F505BE9}"/>
              </a:ext>
            </a:extLst>
          </p:cNvPr>
          <p:cNvSpPr>
            <a:spLocks noGrp="1"/>
          </p:cNvSpPr>
          <p:nvPr/>
        </p:nvSpPr>
        <p:spPr>
          <a:xfrm>
            <a:off x="495300" y="3876675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A1C688-4DBA-44DB-BC56-FD6D16CE42EA}"/>
              </a:ext>
            </a:extLst>
          </p:cNvPr>
          <p:cNvSpPr>
            <a:spLocks noGrp="1"/>
          </p:cNvSpPr>
          <p:nvPr/>
        </p:nvSpPr>
        <p:spPr>
          <a:xfrm>
            <a:off x="495300" y="4352925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Публикация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D26C405-0119-47A6-ACCA-84E01364B27A}"/>
              </a:ext>
            </a:extLst>
          </p:cNvPr>
          <p:cNvSpPr>
            <a:spLocks noGrp="1"/>
          </p:cNvSpPr>
          <p:nvPr/>
        </p:nvSpPr>
        <p:spPr>
          <a:xfrm>
            <a:off x="495300" y="4886325"/>
            <a:ext cx="26670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Согласия и статус поиска определяют видимость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926AE3-A66D-4AEB-8353-DBC8A1582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05250" y="1136121"/>
            <a:ext cx="7810500" cy="542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2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E3189C7-D94C-42A7-9562-314C0AF62AC2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Работодатель: потребность и подбор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EC036E-1D66-495C-808C-3B2D246EB078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C033D2-E3AF-4E62-91CB-A617F3EAF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1441" y="1181100"/>
            <a:ext cx="7516368" cy="52197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8936B8C-1FAA-49EF-929D-23DF8F138F67}"/>
              </a:ext>
            </a:extLst>
          </p:cNvPr>
          <p:cNvSpPr>
            <a:spLocks noGrp="1"/>
          </p:cNvSpPr>
          <p:nvPr/>
        </p:nvSpPr>
        <p:spPr>
          <a:xfrm>
            <a:off x="9144000" y="1590675"/>
            <a:ext cx="24765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Компания задаёт</a:t>
            </a:r>
          </a:p>
          <a:p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условия поиска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3F64E3-0267-4079-BA7A-F8EC20013EA8}"/>
              </a:ext>
            </a:extLst>
          </p:cNvPr>
          <p:cNvSpPr>
            <a:spLocks noGrp="1"/>
          </p:cNvSpPr>
          <p:nvPr/>
        </p:nvSpPr>
        <p:spPr>
          <a:xfrm>
            <a:off x="9144000" y="3038475"/>
            <a:ext cx="2457450" cy="14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Стек и грейд</a:t>
            </a:r>
          </a:p>
          <a:p>
            <a:pPr>
              <a:def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Зарплатная вилка</a:t>
            </a:r>
          </a:p>
          <a:p>
            <a:pPr>
              <a:def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Формат работы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D35CF7-8D81-4476-81A6-BA78B5009D1B}"/>
              </a:ext>
            </a:extLst>
          </p:cNvPr>
          <p:cNvSpPr>
            <a:spLocks noGrp="1"/>
          </p:cNvSpPr>
          <p:nvPr/>
        </p:nvSpPr>
        <p:spPr>
          <a:xfrm>
            <a:off x="9144000" y="4829175"/>
            <a:ext cx="24574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Подбор и приглашения доступны участникам компании с подходящими правами.</a:t>
            </a:r>
          </a:p>
        </p:txBody>
      </p:sp>
    </p:spTree>
    <p:extLst>
      <p:ext uri="{BB962C8B-B14F-4D97-AF65-F5344CB8AC3E}">
        <p14:creationId xmlns:p14="http://schemas.microsoft.com/office/powerpoint/2010/main" val="1934391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513325-2B82-4386-AD00-559CC6437254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Фронтенд: от экранов до API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49618FE-624A-4CC9-BEDF-24FF787F341B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3BA3880-157E-40CA-9C08-531EA5676334}"/>
              </a:ext>
            </a:extLst>
          </p:cNvPr>
          <p:cNvSpPr>
            <a:spLocks noGrp="1"/>
          </p:cNvSpPr>
          <p:nvPr/>
        </p:nvSpPr>
        <p:spPr>
          <a:xfrm>
            <a:off x="495300" y="1457325"/>
            <a:ext cx="4000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9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39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9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Next.js 15</a:t>
            </a:r>
          </a:p>
          <a:p>
            <a:pPr>
              <a:defRPr sz="39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9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React 19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9AD83F5-35AA-4559-9B9C-1CBFBC4CC96B}"/>
              </a:ext>
            </a:extLst>
          </p:cNvPr>
          <p:cNvSpPr>
            <a:spLocks noGrp="1"/>
          </p:cNvSpPr>
          <p:nvPr/>
        </p:nvSpPr>
        <p:spPr>
          <a:xfrm>
            <a:off x="495300" y="3257550"/>
            <a:ext cx="4000500" cy="1304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TypeScript, Tailwind CSS 4</a:t>
            </a:r>
          </a:p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React Hook Form + Zod</a:t>
            </a:r>
          </a:p>
          <a:p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Radix / shadcn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5B91EB-7282-41D5-90AE-64E10D32DBF7}"/>
              </a:ext>
            </a:extLst>
          </p:cNvPr>
          <p:cNvSpPr>
            <a:spLocks noGrp="1"/>
          </p:cNvSpPr>
          <p:nvPr/>
        </p:nvSpPr>
        <p:spPr>
          <a:xfrm>
            <a:off x="495300" y="5067300"/>
            <a:ext cx="40005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65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App Router разделяет серверные страницы и клиентские сценарии. Интерфейс восстанавливает сессию и защищает несохранённые данные.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0CEC7B2-4A4C-40FC-96F2-885D3F1A1B41}"/>
              </a:ext>
            </a:extLst>
          </p:cNvPr>
          <p:cNvGraphicFramePr/>
          <p:nvPr/>
        </p:nvGraphicFramePr>
        <p:xfrm>
          <a:off x="5048250" y="1381125"/>
          <a:ext cx="6667500" cy="4476750"/>
        </p:xfrm>
        <a:graphic>
          <a:graphicData uri="http://schemas.openxmlformats.org/drawingml/2006/table">
            <a:tbl>
              <a:tblPr/>
              <a:tblGrid>
                <a:gridCol w="242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Слой</a:t>
                      </a:r>
                    </a:p>
                  </a:txBody>
                  <a:tcPr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Ответственность</a:t>
                      </a:r>
                    </a:p>
                  </a:txBody>
                  <a:tcPr>
                    <a:solidFill>
                      <a:srgbClr val="310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Маршруты и layouts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screens / widgets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Композиция экранов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Действия пользователя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entities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Модели и API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UI и инструменты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64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E008A9-C217-4CB5-842E-704DAF50C36A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Поиск кандидатов в интерфейсе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6ED9F4-B3D1-4161-AA14-511E499EDE05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5EA711-EDFE-4DD5-824B-2BFAD3511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7552" y="1181100"/>
            <a:ext cx="7626096" cy="52959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C04B048-9F4F-428E-A708-5813FD959D20}"/>
              </a:ext>
            </a:extLst>
          </p:cNvPr>
          <p:cNvSpPr>
            <a:spLocks noGrp="1"/>
          </p:cNvSpPr>
          <p:nvPr/>
        </p:nvSpPr>
        <p:spPr>
          <a:xfrm>
            <a:off x="9448800" y="1514475"/>
            <a:ext cx="2286000" cy="1209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экран</a:t>
            </a:r>
          </a:p>
          <a:p>
            <a: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для сравнения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5310EB-53B2-4F64-B65B-873EA6F4C7BC}"/>
              </a:ext>
            </a:extLst>
          </p:cNvPr>
          <p:cNvSpPr>
            <a:spLocks noGrp="1"/>
          </p:cNvSpPr>
          <p:nvPr/>
        </p:nvSpPr>
        <p:spPr>
          <a:xfrm>
            <a:off x="9448800" y="3095625"/>
            <a:ext cx="2286000" cy="205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Фильтры по навыкам и условиям работы.</a:t>
            </a:r>
          </a:p>
          <a:p>
            <a:endParaRPr sz="1725" b="0">
              <a:solidFill>
                <a:srgbClr val="FFD6E4"/>
              </a:solidFill>
              <a:latin typeface="Montserrat"/>
              <a:ea typeface="Montserrat"/>
              <a:cs typeface="Montserrat"/>
            </a:endParaRPr>
          </a:p>
          <a:p>
            <a: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Карточки отделяют заявленный уровень от подтверждённого.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3EB5E4-4CBD-475B-802B-F6B1BA7C4587}"/>
              </a:ext>
            </a:extLst>
          </p:cNvPr>
          <p:cNvSpPr>
            <a:spLocks noGrp="1"/>
          </p:cNvSpPr>
          <p:nvPr/>
        </p:nvSpPr>
        <p:spPr>
          <a:xfrm>
            <a:off x="9448800" y="5543550"/>
            <a:ext cx="2286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Контакты защищает сервер.</a:t>
            </a:r>
          </a:p>
        </p:txBody>
      </p:sp>
    </p:spTree>
    <p:extLst>
      <p:ext uri="{BB962C8B-B14F-4D97-AF65-F5344CB8AC3E}">
        <p14:creationId xmlns:p14="http://schemas.microsoft.com/office/powerpoint/2010/main" val="2114131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E93354-4C9B-47F7-95A3-FD41723F4A24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Бэкенд: правила, данные и доступ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DCBE6CB-5E61-40D6-B66D-ADA2624D389A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4E45A9-9A36-45B4-A5BA-ED5DD8CBB37C}"/>
              </a:ext>
            </a:extLst>
          </p:cNvPr>
          <p:cNvSpPr>
            <a:spLocks noGrp="1"/>
          </p:cNvSpPr>
          <p:nvPr/>
        </p:nvSpPr>
        <p:spPr>
          <a:xfrm>
            <a:off x="495300" y="1409700"/>
            <a:ext cx="4381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Go + Gin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F880B6-E2F9-4DE5-A383-B2FD78D97328}"/>
              </a:ext>
            </a:extLst>
          </p:cNvPr>
          <p:cNvSpPr>
            <a:spLocks noGrp="1"/>
          </p:cNvSpPr>
          <p:nvPr/>
        </p:nvSpPr>
        <p:spPr>
          <a:xfrm>
            <a:off x="495300" y="2428875"/>
            <a:ext cx="438150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1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REST API /api/v1</a:t>
            </a:r>
          </a:p>
          <a:p>
            <a:pPr>
              <a:defRPr sz="21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21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OpenAPI и Swagger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1941B6-230D-400B-A3F4-4446378B925B}"/>
              </a:ext>
            </a:extLst>
          </p:cNvPr>
          <p:cNvSpPr>
            <a:spLocks noGrp="1"/>
          </p:cNvSpPr>
          <p:nvPr/>
        </p:nvSpPr>
        <p:spPr>
          <a:xfrm>
            <a:off x="495300" y="3857625"/>
            <a:ext cx="2095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PostgreSQL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61163B-B51D-430E-9E99-621EE2174780}"/>
              </a:ext>
            </a:extLst>
          </p:cNvPr>
          <p:cNvSpPr>
            <a:spLocks noGrp="1"/>
          </p:cNvSpPr>
          <p:nvPr/>
        </p:nvSpPr>
        <p:spPr>
          <a:xfrm>
            <a:off x="495300" y="4295775"/>
            <a:ext cx="4000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Основные данные и транзакции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C6CB0B4-5FFE-4288-AF8E-0692974789BA}"/>
              </a:ext>
            </a:extLst>
          </p:cNvPr>
          <p:cNvSpPr>
            <a:spLocks noGrp="1"/>
          </p:cNvSpPr>
          <p:nvPr/>
        </p:nvSpPr>
        <p:spPr>
          <a:xfrm>
            <a:off x="495300" y="5191125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Redis / SeaweedFS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14BAC5-B8A5-4278-90C7-4EDF85403578}"/>
              </a:ext>
            </a:extLst>
          </p:cNvPr>
          <p:cNvSpPr>
            <a:spLocks noGrp="1"/>
          </p:cNvSpPr>
          <p:nvPr/>
        </p:nvSpPr>
        <p:spPr>
          <a:xfrm>
            <a:off x="495300" y="5629275"/>
            <a:ext cx="4048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Кеш и приватные файлы в S3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4ABA6D3C-17F7-4908-B9C4-5E8783D754C0}"/>
              </a:ext>
            </a:extLst>
          </p:cNvPr>
          <p:cNvGraphicFramePr/>
          <p:nvPr/>
        </p:nvGraphicFramePr>
        <p:xfrm>
          <a:off x="5191125" y="1409700"/>
          <a:ext cx="6524625" cy="362902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8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Слой</a:t>
                      </a:r>
                    </a:p>
                  </a:txBody>
                  <a:tcPr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Что выполняет</a:t>
                      </a:r>
                    </a:p>
                  </a:txBody>
                  <a:tcPr>
                    <a:solidFill>
                      <a:srgbClr val="310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HTTP и ответы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service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Сценарии и права доступа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Модели и валидация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repository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SQL и транзакции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F01572C-1BB3-4435-A8AA-3F81B7BB5F9C}"/>
              </a:ext>
            </a:extLst>
          </p:cNvPr>
          <p:cNvSpPr>
            <a:spLocks noGrp="1"/>
          </p:cNvSpPr>
          <p:nvPr/>
        </p:nvSpPr>
        <p:spPr>
          <a:xfrm>
            <a:off x="5191125" y="5343525"/>
            <a:ext cx="635317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Keycloak проверяет идентичность. API проверяет роль, членство и доступ к каждой записи.</a:t>
            </a:r>
          </a:p>
        </p:txBody>
      </p:sp>
    </p:spTree>
    <p:extLst>
      <p:ext uri="{BB962C8B-B14F-4D97-AF65-F5344CB8AC3E}">
        <p14:creationId xmlns:p14="http://schemas.microsoft.com/office/powerpoint/2010/main" val="180191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F0AC99F-0E1C-43E8-A938-B0CA0C1F6E8A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Подбор: виден вклад каждого критерия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E917C2E-2DB9-4090-8BFE-9B093C19D1D8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E1938B6B-83C1-49B6-8EB2-8100392C9C88}"/>
              </a:ext>
            </a:extLst>
          </p:cNvPr>
          <p:cNvGraphicFramePr/>
          <p:nvPr/>
        </p:nvGraphicFramePr>
        <p:xfrm>
          <a:off x="428625" y="1343025"/>
          <a:ext cx="7362825" cy="4324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5B87B56-2521-456E-A2B6-5B53CA23C245}"/>
              </a:ext>
            </a:extLst>
          </p:cNvPr>
          <p:cNvSpPr>
            <a:spLocks noGrp="1"/>
          </p:cNvSpPr>
          <p:nvPr/>
        </p:nvSpPr>
        <p:spPr>
          <a:xfrm>
            <a:off x="8191500" y="1552575"/>
            <a:ext cx="1524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54DA89-C714-49D9-A008-A3FCECA0E599}"/>
              </a:ext>
            </a:extLst>
          </p:cNvPr>
          <p:cNvSpPr>
            <a:spLocks noGrp="1"/>
          </p:cNvSpPr>
          <p:nvPr/>
        </p:nvSpPr>
        <p:spPr>
          <a:xfrm>
            <a:off x="8191500" y="2314575"/>
            <a:ext cx="333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 подтверждён тестом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23AD92-D6F0-468F-9AE0-7AD66BBF621D}"/>
              </a:ext>
            </a:extLst>
          </p:cNvPr>
          <p:cNvSpPr>
            <a:spLocks noGrp="1"/>
          </p:cNvSpPr>
          <p:nvPr/>
        </p:nvSpPr>
        <p:spPr>
          <a:xfrm>
            <a:off x="8191500" y="3133725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0,5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4FFF462-F8F2-4204-96CD-17738B2126B3}"/>
              </a:ext>
            </a:extLst>
          </p:cNvPr>
          <p:cNvSpPr>
            <a:spLocks noGrp="1"/>
          </p:cNvSpPr>
          <p:nvPr/>
        </p:nvSpPr>
        <p:spPr>
          <a:xfrm>
            <a:off x="8191500" y="3895725"/>
            <a:ext cx="33337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 указан в самооценке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BDA411C-4911-44E1-8E4B-08F82C079550}"/>
              </a:ext>
            </a:extLst>
          </p:cNvPr>
          <p:cNvSpPr>
            <a:spLocks noGrp="1"/>
          </p:cNvSpPr>
          <p:nvPr/>
        </p:nvSpPr>
        <p:spPr>
          <a:xfrm>
            <a:off x="8191500" y="4705350"/>
            <a:ext cx="1524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6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0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435B48D-390C-466B-8905-789FDA97665D}"/>
              </a:ext>
            </a:extLst>
          </p:cNvPr>
          <p:cNvSpPr>
            <a:spLocks noGrp="1"/>
          </p:cNvSpPr>
          <p:nvPr/>
        </p:nvSpPr>
        <p:spPr>
          <a:xfrm>
            <a:off x="8191500" y="5467350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Навык отсутствует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2EA869A-18D5-404B-8CCC-397AFF32EACA}"/>
              </a:ext>
            </a:extLst>
          </p:cNvPr>
          <p:cNvSpPr>
            <a:spLocks noGrp="1"/>
          </p:cNvSpPr>
          <p:nvPr/>
        </p:nvSpPr>
        <p:spPr>
          <a:xfrm>
            <a:off x="495300" y="6048375"/>
            <a:ext cx="108108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Обязательный навык получает двойной вес. Неуказанные условия не участвуют в расчёте.</a:t>
            </a:r>
          </a:p>
        </p:txBody>
      </p:sp>
    </p:spTree>
    <p:extLst>
      <p:ext uri="{BB962C8B-B14F-4D97-AF65-F5344CB8AC3E}">
        <p14:creationId xmlns:p14="http://schemas.microsoft.com/office/powerpoint/2010/main" val="125868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15E56E-8A92-4C1D-A086-EFB0005A9FE7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Тестирование подтверждает навыки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996782B-BA47-4DC9-9334-200F5E02E1C2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96AEC7-590E-422D-8DEC-31DF3D81BD32}"/>
              </a:ext>
            </a:extLst>
          </p:cNvPr>
          <p:cNvSpPr>
            <a:spLocks noGrp="1"/>
          </p:cNvSpPr>
          <p:nvPr/>
        </p:nvSpPr>
        <p:spPr>
          <a:xfrm>
            <a:off x="495300" y="1495425"/>
            <a:ext cx="3276600" cy="2219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Заявленный</a:t>
            </a:r>
          </a:p>
          <a:p>
            <a:pPr>
              <a:def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уровень и</a:t>
            </a:r>
          </a:p>
          <a:p>
            <a:pPr>
              <a:def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результат теста</a:t>
            </a:r>
          </a:p>
          <a:p>
            <a:pPr>
              <a:def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хранятся отдельно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BAD4C19-7C63-4BCD-A3B7-23BFAB641534}"/>
              </a:ext>
            </a:extLst>
          </p:cNvPr>
          <p:cNvSpPr>
            <a:spLocks noGrp="1"/>
          </p:cNvSpPr>
          <p:nvPr/>
        </p:nvSpPr>
        <p:spPr>
          <a:xfrm>
            <a:off x="495300" y="4191000"/>
            <a:ext cx="327660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Фронтенд сохраняет ответы. Сервер контролирует дедлайн, результат и ограничения повторного прохождения.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57FF56-EA59-4D32-AEE2-AE1A52171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3929" y="1162050"/>
            <a:ext cx="7708392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5EA192-BC6F-4873-BEC2-E6203E9FAC73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Кандидат управляет публикацией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974FC5-7E15-4A5C-BAC3-6B4A8D852B88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93D22C-0AE0-4C1B-B997-1D93A26E7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7238" y="1238250"/>
            <a:ext cx="7543800" cy="52387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49F4E1-6F37-44BB-8488-94D97096040C}"/>
              </a:ext>
            </a:extLst>
          </p:cNvPr>
          <p:cNvSpPr>
            <a:spLocks noGrp="1"/>
          </p:cNvSpPr>
          <p:nvPr/>
        </p:nvSpPr>
        <p:spPr>
          <a:xfrm>
            <a:off x="8991600" y="1504950"/>
            <a:ext cx="2809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6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Согласия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11B549-5C97-4B51-8704-F64397ED5E02}"/>
              </a:ext>
            </a:extLst>
          </p:cNvPr>
          <p:cNvSpPr>
            <a:spLocks noGrp="1"/>
          </p:cNvSpPr>
          <p:nvPr/>
        </p:nvSpPr>
        <p:spPr>
          <a:xfrm>
            <a:off x="8991600" y="2381250"/>
            <a:ext cx="2809875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банк попадают профили с действующими согласиями на обработку и публикацию.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7C8D8D-0982-41E2-AE10-3DFF9CC2570D}"/>
              </a:ext>
            </a:extLst>
          </p:cNvPr>
          <p:cNvSpPr>
            <a:spLocks noGrp="1"/>
          </p:cNvSpPr>
          <p:nvPr/>
        </p:nvSpPr>
        <p:spPr>
          <a:xfrm>
            <a:off x="8991600" y="4067175"/>
            <a:ext cx="2809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6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Контакты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C66A172-0D67-48F6-AE4F-AC54AD6FE058}"/>
              </a:ext>
            </a:extLst>
          </p:cNvPr>
          <p:cNvSpPr>
            <a:spLocks noGrp="1"/>
          </p:cNvSpPr>
          <p:nvPr/>
        </p:nvSpPr>
        <p:spPr>
          <a:xfrm>
            <a:off x="8991600" y="4914900"/>
            <a:ext cx="2809875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Принятое предложение открывает контакты только в разрешённом сценарии.</a:t>
            </a:r>
          </a:p>
        </p:txBody>
      </p:sp>
    </p:spTree>
    <p:extLst>
      <p:ext uri="{BB962C8B-B14F-4D97-AF65-F5344CB8AC3E}">
        <p14:creationId xmlns:p14="http://schemas.microsoft.com/office/powerpoint/2010/main" val="850900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BD662CF-A3AE-4E23-B8AE-EFE79A38C0E5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Админка: содержание и модерация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41AC9A-1124-4EBB-AC9E-6754E3D65790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20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FF7D23-C950-477E-99C5-4BE4ABE25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7923" y="1228725"/>
            <a:ext cx="7461504" cy="51816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03604A4-355C-4672-A8D9-79A1DD12E79B}"/>
              </a:ext>
            </a:extLst>
          </p:cNvPr>
          <p:cNvSpPr>
            <a:spLocks noGrp="1"/>
          </p:cNvSpPr>
          <p:nvPr/>
        </p:nvSpPr>
        <p:spPr>
          <a:xfrm>
            <a:off x="9220200" y="1514475"/>
            <a:ext cx="26098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Справочники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2C3174C-9C8E-4F52-BC20-F8695737D768}"/>
              </a:ext>
            </a:extLst>
          </p:cNvPr>
          <p:cNvSpPr>
            <a:spLocks noGrp="1"/>
          </p:cNvSpPr>
          <p:nvPr/>
        </p:nvSpPr>
        <p:spPr>
          <a:xfrm>
            <a:off x="9220200" y="2314575"/>
            <a:ext cx="2609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Навыки, специализации и грейды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BC2D18E-A6EB-449A-A6C4-59F6FCF9BC3A}"/>
              </a:ext>
            </a:extLst>
          </p:cNvPr>
          <p:cNvSpPr>
            <a:spLocks noGrp="1"/>
          </p:cNvSpPr>
          <p:nvPr/>
        </p:nvSpPr>
        <p:spPr>
          <a:xfrm>
            <a:off x="9220200" y="3705225"/>
            <a:ext cx="26098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Операции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5AA5573-3AD2-4738-988C-06570FAD66C6}"/>
              </a:ext>
            </a:extLst>
          </p:cNvPr>
          <p:cNvSpPr>
            <a:spLocks noGrp="1"/>
          </p:cNvSpPr>
          <p:nvPr/>
        </p:nvSpPr>
        <p:spPr>
          <a:xfrm>
            <a:off x="9220200" y="4533900"/>
            <a:ext cx="260985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Шаблоны тестов, проверка компаний, модерация и журнал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632808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811A84-82AA-41E2-979C-C4C6B2AC8147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Как приложение доходит до сервера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5487B38-C5E2-4ABC-96EF-C72A4F7E08EC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21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94D7172-DFC5-4B04-8A06-A2E7A898BA8C}"/>
              </a:ext>
            </a:extLst>
          </p:cNvPr>
          <p:cNvGraphicFramePr/>
          <p:nvPr/>
        </p:nvGraphicFramePr>
        <p:xfrm>
          <a:off x="495300" y="1371600"/>
          <a:ext cx="10953750" cy="3724278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07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Этап</a:t>
                      </a:r>
                    </a:p>
                  </a:txBody>
                  <a:tcPr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Результат</a:t>
                      </a:r>
                    </a:p>
                  </a:txBody>
                  <a:tcPr>
                    <a:solidFill>
                      <a:srgbClr val="310F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Локальные проверки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Go race-тесты, Vitest, lint и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Push в main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Сборка образа Go API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GHCR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Публикация версии контейнера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Серверный Compose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Миграции и обновление API</a:t>
                      </a:r>
                    </a:p>
                  </a:txBody>
                  <a:tcPr>
                    <a:solidFill>
                      <a:srgbClr val="EEEA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7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Проверка readyz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C1D22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Доступность БД, Redis и 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EFD89E-7743-4DFC-9792-901874EC528A}"/>
              </a:ext>
            </a:extLst>
          </p:cNvPr>
          <p:cNvSpPr>
            <a:spLocks noGrp="1"/>
          </p:cNvSpPr>
          <p:nvPr/>
        </p:nvSpPr>
        <p:spPr>
          <a:xfrm>
            <a:off x="495300" y="5514975"/>
            <a:ext cx="7429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Фронтенд требует отдельного процесса доставки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1AC27B-52EA-4A7F-95DD-30139E90D9F9}"/>
              </a:ext>
            </a:extLst>
          </p:cNvPr>
          <p:cNvSpPr>
            <a:spLocks noGrp="1"/>
          </p:cNvSpPr>
          <p:nvPr/>
        </p:nvSpPr>
        <p:spPr>
          <a:xfrm>
            <a:off x="495300" y="6115050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686575"/>
                </a:solidFill>
                <a:latin typeface="Montserrat"/>
                <a:ea typeface="Montserrat"/>
                <a:cs typeface="Montserrat"/>
              </a:rPr>
              <a:t>Следующие инфраструктурные шаги: HTTPS и автоматические резервные копии.</a:t>
            </a:r>
          </a:p>
        </p:txBody>
      </p:sp>
    </p:spTree>
    <p:extLst>
      <p:ext uri="{BB962C8B-B14F-4D97-AF65-F5344CB8AC3E}">
        <p14:creationId xmlns:p14="http://schemas.microsoft.com/office/powerpoint/2010/main" val="1562050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0F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5FF18CD-28B0-449F-A795-0AC4BBCFD075}"/>
              </a:ext>
            </a:extLst>
          </p:cNvPr>
          <p:cNvSpPr>
            <a:spLocks noGrp="1"/>
          </p:cNvSpPr>
          <p:nvPr/>
        </p:nvSpPr>
        <p:spPr>
          <a:xfrm>
            <a:off x="495300" y="323850"/>
            <a:ext cx="10572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Следующий этап: пилот и реальные интеграции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6BCFE5-3EA1-46C2-A67A-8F0D2C7E171E}"/>
              </a:ext>
            </a:extLst>
          </p:cNvPr>
          <p:cNvSpPr>
            <a:spLocks noGrp="1"/>
          </p:cNvSpPr>
          <p:nvPr/>
        </p:nvSpPr>
        <p:spPr>
          <a:xfrm>
            <a:off x="11430000" y="428625"/>
            <a:ext cx="381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22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21CEDA-4598-4A64-97E8-F0D4A7A079A6}"/>
              </a:ext>
            </a:extLst>
          </p:cNvPr>
          <p:cNvSpPr>
            <a:spLocks noGrp="1"/>
          </p:cNvSpPr>
          <p:nvPr/>
        </p:nvSpPr>
        <p:spPr>
          <a:xfrm>
            <a:off x="495300" y="1457325"/>
            <a:ext cx="24098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24E3D52-F468-49B7-A60D-540A60D8D72A}"/>
              </a:ext>
            </a:extLst>
          </p:cNvPr>
          <p:cNvSpPr>
            <a:spLocks noGrp="1"/>
          </p:cNvSpPr>
          <p:nvPr/>
        </p:nvSpPr>
        <p:spPr>
          <a:xfrm>
            <a:off x="495300" y="1933575"/>
            <a:ext cx="24098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Реестр ФСП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A545A6E-2792-4DB1-96AA-05266BC140D0}"/>
              </a:ext>
            </a:extLst>
          </p:cNvPr>
          <p:cNvSpPr>
            <a:spLocks noGrp="1"/>
          </p:cNvSpPr>
          <p:nvPr/>
        </p:nvSpPr>
        <p:spPr>
          <a:xfrm>
            <a:off x="495300" y="2466975"/>
            <a:ext cx="24098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Реальная привязка ID и импорт достижений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3BAC085-1897-4A2E-A244-79AADD6C5ED7}"/>
              </a:ext>
            </a:extLst>
          </p:cNvPr>
          <p:cNvSpPr>
            <a:spLocks noGrp="1"/>
          </p:cNvSpPr>
          <p:nvPr/>
        </p:nvSpPr>
        <p:spPr>
          <a:xfrm>
            <a:off x="3429000" y="1457325"/>
            <a:ext cx="24098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FDC7A5-80DF-4070-97F6-3076B7F59C34}"/>
              </a:ext>
            </a:extLst>
          </p:cNvPr>
          <p:cNvSpPr>
            <a:spLocks noGrp="1"/>
          </p:cNvSpPr>
          <p:nvPr/>
        </p:nvSpPr>
        <p:spPr>
          <a:xfrm>
            <a:off x="3429000" y="1933575"/>
            <a:ext cx="24098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Эксплуатация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04658F0-01CC-4D12-A4A1-C660BBEF1B6C}"/>
              </a:ext>
            </a:extLst>
          </p:cNvPr>
          <p:cNvSpPr>
            <a:spLocks noGrp="1"/>
          </p:cNvSpPr>
          <p:nvPr/>
        </p:nvSpPr>
        <p:spPr>
          <a:xfrm>
            <a:off x="3429000" y="2466975"/>
            <a:ext cx="24098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HTTPS, бэкапы и доставка фронтенда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366A2DF-3288-490E-858A-8A2C5E20867A}"/>
              </a:ext>
            </a:extLst>
          </p:cNvPr>
          <p:cNvSpPr>
            <a:spLocks noGrp="1"/>
          </p:cNvSpPr>
          <p:nvPr/>
        </p:nvSpPr>
        <p:spPr>
          <a:xfrm>
            <a:off x="6362700" y="1457325"/>
            <a:ext cx="24098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6EDA826-0384-4C7D-83F5-D4C32D99068F}"/>
              </a:ext>
            </a:extLst>
          </p:cNvPr>
          <p:cNvSpPr>
            <a:spLocks noGrp="1"/>
          </p:cNvSpPr>
          <p:nvPr/>
        </p:nvSpPr>
        <p:spPr>
          <a:xfrm>
            <a:off x="6362700" y="1933575"/>
            <a:ext cx="24098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Пилот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75CCF3-A159-4FDA-953C-62D76DE3BE32}"/>
              </a:ext>
            </a:extLst>
          </p:cNvPr>
          <p:cNvSpPr>
            <a:spLocks noGrp="1"/>
          </p:cNvSpPr>
          <p:nvPr/>
        </p:nvSpPr>
        <p:spPr>
          <a:xfrm>
            <a:off x="6362700" y="2466975"/>
            <a:ext cx="24098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Компании проверяют сценарий подбора и приглашений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F19E357-066F-45FB-9F1A-1AA237DFB917}"/>
              </a:ext>
            </a:extLst>
          </p:cNvPr>
          <p:cNvSpPr>
            <a:spLocks noGrp="1"/>
          </p:cNvSpPr>
          <p:nvPr/>
        </p:nvSpPr>
        <p:spPr>
          <a:xfrm>
            <a:off x="9296400" y="1457325"/>
            <a:ext cx="24098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75F1C16-A757-4739-909F-EC809BC64FCB}"/>
              </a:ext>
            </a:extLst>
          </p:cNvPr>
          <p:cNvSpPr>
            <a:spLocks noGrp="1"/>
          </p:cNvSpPr>
          <p:nvPr/>
        </p:nvSpPr>
        <p:spPr>
          <a:xfrm>
            <a:off x="9296400" y="1933575"/>
            <a:ext cx="24098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Качество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2B22A56-DBF6-4061-8762-604198D30E76}"/>
              </a:ext>
            </a:extLst>
          </p:cNvPr>
          <p:cNvSpPr>
            <a:spLocks noGrp="1"/>
          </p:cNvSpPr>
          <p:nvPr/>
        </p:nvSpPr>
        <p:spPr>
          <a:xfrm>
            <a:off x="9296400" y="2466975"/>
            <a:ext cx="24098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Калибровка весов на данных реального найма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3CF0F02-A07B-43C7-9374-5721F2BE0131}"/>
              </a:ext>
            </a:extLst>
          </p:cNvPr>
          <p:cNvSpPr>
            <a:spLocks noGrp="1"/>
          </p:cNvSpPr>
          <p:nvPr/>
        </p:nvSpPr>
        <p:spPr>
          <a:xfrm>
            <a:off x="495300" y="4286250"/>
            <a:ext cx="96202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Сейчас ФСП работает через тестовый адаптер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D854B7D-5B79-4BD7-9C21-DDE8CE72F60B}"/>
              </a:ext>
            </a:extLst>
          </p:cNvPr>
          <p:cNvSpPr>
            <a:spLocks noGrp="1"/>
          </p:cNvSpPr>
          <p:nvPr/>
        </p:nvSpPr>
        <p:spPr>
          <a:xfrm>
            <a:off x="495300" y="5286375"/>
            <a:ext cx="100012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>
            <a:pPr>
              <a:def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Веса подбора и гипотезу платного доступа работодателей предстоит проверить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359370203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11042</TotalTime>
  <Words>1533</Words>
  <Application>Microsoft Macintosh PowerPoint</Application>
  <PresentationFormat>Широкоэкранный</PresentationFormat>
  <Paragraphs>232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</vt:lpstr>
      <vt:lpstr>Montserrat</vt:lpstr>
      <vt:lpstr>Wingdings</vt:lpstr>
      <vt:lpstr>Для Академия инноваторов 16_9</vt:lpstr>
      <vt:lpstr>ChatGPT</vt:lpstr>
      <vt:lpstr>UNSALTED ФСП Скаут</vt:lpstr>
      <vt:lpstr>ФСП Скаут</vt:lpstr>
      <vt:lpstr>КОМАНДА UNSALTED</vt:lpstr>
      <vt:lpstr>КОМАНДА И ЗАДАЧА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Denis</cp:lastModifiedBy>
  <cp:revision>100</cp:revision>
  <dcterms:created xsi:type="dcterms:W3CDTF">2023-05-15T07:36:23Z</dcterms:created>
  <dcterms:modified xsi:type="dcterms:W3CDTF">2026-10-11T18:00:19Z</dcterms:modified>
</cp:coreProperties>
</file>